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8" d="100"/>
          <a:sy n="28" d="100"/>
        </p:scale>
        <p:origin x="1532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70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39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1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2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9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5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8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8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9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1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F6844B-C230-494E-AC2A-65F4B65CE0B7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BB4E1D-433D-47B7-9487-69AEA24DA07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20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752601"/>
            <a:ext cx="8534400" cy="20574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mbria" pitchFamily="18" charset="0"/>
                <a:ea typeface="Cambria" pitchFamily="18" charset="0"/>
              </a:rPr>
              <a:t>Department of Artificial Intelligence and Data Science</a:t>
            </a:r>
            <a:br>
              <a:rPr lang="en-US" sz="3200" b="1" dirty="0">
                <a:latin typeface="Cambria" pitchFamily="18" charset="0"/>
                <a:ea typeface="Cambria" pitchFamily="18" charset="0"/>
              </a:rPr>
            </a:br>
            <a:r>
              <a:rPr lang="en-US" sz="3200" b="1" dirty="0">
                <a:solidFill>
                  <a:srgbClr val="0070C0"/>
                </a:solidFill>
                <a:latin typeface="Cambria" pitchFamily="18" charset="0"/>
                <a:ea typeface="Cambria" pitchFamily="18" charset="0"/>
              </a:rPr>
              <a:t>CSA4001 –Management Information Systems for Data Optimization</a:t>
            </a:r>
            <a:endParaRPr lang="en-US" sz="32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953000"/>
            <a:ext cx="8305800" cy="175260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112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SUBMITTED BY </a:t>
            </a:r>
          </a:p>
          <a:p>
            <a:pPr algn="l"/>
            <a:r>
              <a:rPr lang="en-US" sz="112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SWATHI J U (192124129)</a:t>
            </a:r>
          </a:p>
          <a:p>
            <a:pPr algn="l"/>
            <a:endParaRPr lang="en-US" sz="11200" dirty="0">
              <a:solidFill>
                <a:srgbClr val="002060"/>
              </a:solidFill>
              <a:latin typeface="Cambria" pitchFamily="18" charset="0"/>
              <a:ea typeface="Cambria" pitchFamily="18" charset="0"/>
            </a:endParaRPr>
          </a:p>
          <a:p>
            <a:pPr lvl="0" algn="l"/>
            <a:r>
              <a:rPr lang="en-US" sz="112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Date of Submission:20/3/2025</a:t>
            </a:r>
          </a:p>
          <a:p>
            <a:pPr lvl="0" algn="l"/>
            <a:endParaRPr lang="en-US" sz="2400" b="1" dirty="0">
              <a:solidFill>
                <a:srgbClr val="002060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5" name="image2.png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329084"/>
            <a:ext cx="8229600" cy="1194916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762000" y="4038602"/>
            <a:ext cx="7924800" cy="762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ONLINE LEARNING MANAGEMENT SYSTEM</a:t>
            </a:r>
          </a:p>
          <a:p>
            <a:r>
              <a:rPr lang="en-US" sz="3000" b="1" u="sng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(LMS)</a:t>
            </a:r>
          </a:p>
        </p:txBody>
      </p:sp>
    </p:spTree>
    <p:extLst>
      <p:ext uri="{BB962C8B-B14F-4D97-AF65-F5344CB8AC3E}">
        <p14:creationId xmlns:p14="http://schemas.microsoft.com/office/powerpoint/2010/main" val="205393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Abstract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This project presents a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Cloud-based Online Learning Management System (LMS)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that efficiently manages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100+ courses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500+ faculty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, and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1,000+ student enrollments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It addresses the challenge of handling large-scale academic data with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secure, scalable, and centralized management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 system uses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DBMS and SQL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to enable easy course registrations, material access, testing, and certification.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Faculty dashboards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and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real-time student progress tracking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enhance monitoring and reporting.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The solution ensures </a:t>
            </a: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high availability, data security, and seamless performance</a:t>
            </a:r>
            <a:r>
              <a:rPr lang="en-US" b="0" i="0" dirty="0">
                <a:solidFill>
                  <a:srgbClr val="0D0D0D"/>
                </a:solidFill>
                <a:effectLst/>
                <a:latin typeface="ui-sans-serif"/>
              </a:rPr>
              <a:t> through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114023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mbria" pitchFamily="18" charset="0"/>
                <a:ea typeface="Cambria" pitchFamily="18" charset="0"/>
              </a:rPr>
              <a:t>Table of Contents</a:t>
            </a:r>
            <a:endParaRPr lang="en-US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Introduction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Problem Identification and Analysis Solution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Design and Implementation Results and Recommendations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Coding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Output Screenshots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Reflection on Learning and Personal Development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Conclusion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References 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Cambria" pitchFamily="18" charset="0"/>
                <a:ea typeface="Cambria" pitchFamily="18" charset="0"/>
              </a:rPr>
              <a:t>Appendices</a:t>
            </a:r>
          </a:p>
        </p:txBody>
      </p:sp>
    </p:spTree>
    <p:extLst>
      <p:ext uri="{BB962C8B-B14F-4D97-AF65-F5344CB8AC3E}">
        <p14:creationId xmlns:p14="http://schemas.microsoft.com/office/powerpoint/2010/main" val="196466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0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LMS provides a single platform where students and instructors can access and manage course materials, assignments, and resources in one place, ensuring smooth communication and workflow.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Cloud storage offers scalable and cost-effective solutions to store educational content, making it accessible anytime, anywhere, without the need for extensive physical infrastructure.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Advanced security features like data encryption, user authentication, and automated backups protect sensitive student data and course materials, ensuring privacy and data integrity.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3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system enables instant updates and collaboration, allowing students and instructors to access materials, submit assignments, and provide feedback in real-time, enhancing the learning experience.</a:t>
            </a:r>
            <a:r>
              <a:rPr lang="en-US" altLang="en-US" sz="3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9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b="1" dirty="0"/>
              <a:t>Problem Identification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Challenge: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Support 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500+ courses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1000+ registrations per course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efficiently.</a:t>
            </a:r>
          </a:p>
          <a:p>
            <a:pPr>
              <a:lnSpc>
                <a:spcPct val="150000"/>
              </a:lnSpc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&amp; Privacy: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Ensure 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encryption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user data and course materials.</a:t>
            </a:r>
          </a:p>
          <a:p>
            <a:pPr>
              <a:lnSpc>
                <a:spcPct val="150000"/>
              </a:lnSpc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Integration: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Store and manage course content securely using 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S3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 equivalent.</a:t>
            </a:r>
          </a:p>
          <a:p>
            <a:pPr>
              <a:lnSpc>
                <a:spcPct val="150000"/>
              </a:lnSpc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Learning Features: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Implement 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workshops, presentations, tests, and certifications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enhanced engagement.</a:t>
            </a:r>
          </a:p>
          <a:p>
            <a:pPr>
              <a:lnSpc>
                <a:spcPct val="150000"/>
              </a:lnSpc>
            </a:pP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User Experience: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Provide </a:t>
            </a:r>
            <a:r>
              <a:rPr lang="en-US" sz="3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authentication, role-based access, and smooth course navigation.</a:t>
            </a:r>
            <a:r>
              <a:rPr lang="en-US" sz="3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18636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Solution Design and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Design Process: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LMS architecture with clear database schema, cloud deployment planning, and responsive UI for faculty and student portals.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platform (AWS/GCP),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database,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frontend, and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PHP/Python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backend integration.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system that manages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100+ courses, 500+ faculty, and 1,000+ enrollments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real-time progress tracking, test management, and certificate automation.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Engineering Standards: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Followed secure coding practices,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constraints in SQL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scalability principles, and modular system design for efficient maintenance and upgrades.</a:t>
            </a:r>
          </a:p>
          <a:p>
            <a:pPr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77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50033"/>
          </a:xfrm>
        </p:spPr>
        <p:txBody>
          <a:bodyPr>
            <a:normAutofit/>
          </a:bodyPr>
          <a:lstStyle/>
          <a:p>
            <a:r>
              <a:rPr lang="en-US" b="1" dirty="0"/>
              <a:t>Results and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335280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Results: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LMS successfully handles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100+ courses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500+ faculty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1,000+ student enrollments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efficient course management, secure data handling, and real-time progress monitoring.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Encountered: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Faced scalability issues during peak load testing, database query optimization challenges, and integration complexities across modules.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Improvements: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 systems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personalized course suggestions, advanced analytics dashboards, and mobile app integration.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Future Work: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Migrate to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serverless cloud architecture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better scalability, integrate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enable 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 integration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wider.</a:t>
            </a:r>
          </a:p>
        </p:txBody>
      </p:sp>
    </p:spTree>
    <p:extLst>
      <p:ext uri="{BB962C8B-B14F-4D97-AF65-F5344CB8AC3E}">
        <p14:creationId xmlns:p14="http://schemas.microsoft.com/office/powerpoint/2010/main" val="116504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32596"/>
          </a:xfrm>
        </p:spPr>
        <p:txBody>
          <a:bodyPr/>
          <a:lstStyle/>
          <a:p>
            <a:r>
              <a:rPr lang="en-US" b="1" dirty="0"/>
              <a:t>Coding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44D603-12FD-1972-62E0-F0E1ACA07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600200"/>
            <a:ext cx="3776196" cy="452596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9EA470-A2AC-E9B3-D106-DFBBD66D0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75" y="1600200"/>
            <a:ext cx="399191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59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32596"/>
          </a:xfrm>
        </p:spPr>
        <p:txBody>
          <a:bodyPr/>
          <a:lstStyle/>
          <a:p>
            <a:r>
              <a:rPr lang="en-US" b="1" dirty="0"/>
              <a:t>Coding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3E4A33-6BFD-B6FD-AD14-3D0E9AC78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4001"/>
            <a:ext cx="3733800" cy="4876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09D820-9ED5-EF43-33B7-20C092784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93323"/>
            <a:ext cx="4114800" cy="487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9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Screenshots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9694B5-3734-2EBB-2B7C-5BA4C452F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2121962"/>
            <a:ext cx="7543800" cy="3471326"/>
          </a:xfrm>
        </p:spPr>
      </p:pic>
    </p:spTree>
    <p:extLst>
      <p:ext uri="{BB962C8B-B14F-4D97-AF65-F5344CB8AC3E}">
        <p14:creationId xmlns:p14="http://schemas.microsoft.com/office/powerpoint/2010/main" val="137398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Screenshots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4DA1C-CC5B-C894-57D0-1208F12B1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2110175"/>
            <a:ext cx="7543800" cy="3494901"/>
          </a:xfrm>
        </p:spPr>
      </p:pic>
    </p:spTree>
    <p:extLst>
      <p:ext uri="{BB962C8B-B14F-4D97-AF65-F5344CB8AC3E}">
        <p14:creationId xmlns:p14="http://schemas.microsoft.com/office/powerpoint/2010/main" val="3038115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Screenshots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EE86D-F223-DF8C-BA3A-D7BFDA88D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2163217"/>
            <a:ext cx="7543800" cy="3388816"/>
          </a:xfrm>
        </p:spPr>
      </p:pic>
    </p:spTree>
    <p:extLst>
      <p:ext uri="{BB962C8B-B14F-4D97-AF65-F5344CB8AC3E}">
        <p14:creationId xmlns:p14="http://schemas.microsoft.com/office/powerpoint/2010/main" val="3901392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Reflection on Learning and Personal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Learning Outcomes: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in-depth understanding of 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system design, SQL database management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large-scale application development.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Problem-Solving Skills Gained: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skills in 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optimization, cloud deployment, backend integration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handling complex queries and scalability issues.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and Communication Insights: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teamwork through 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task delegation, effective communication, and collaborative design discussions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Engineering Standards: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Followed best practices in 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coding, modular design, data validation, and system scalability standards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Insights: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how 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LMS solutions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becoming essential in modern education, highlighting the importance of 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security, flexibility, and real-time analytics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industry-grade platforms.</a:t>
            </a:r>
          </a:p>
          <a:p>
            <a:pPr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471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of Findings: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LMS effectively manages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100+ courses, 500+ faculty, and 1,000+ enrollments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secure, scalable, and user-friendly platform for online education.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Project: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database technologies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can revolutionize educational management, enabling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learning, monitoring, and resource sharing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Thoughts:</a:t>
            </a:r>
            <a:b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the growing need for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robust, scalable learning platforms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sets a foundation for future enhancements like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integration, advanced analytics, and mobile support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industry-level LMS solutions.</a:t>
            </a:r>
          </a:p>
        </p:txBody>
      </p:sp>
    </p:spTree>
    <p:extLst>
      <p:ext uri="{BB962C8B-B14F-4D97-AF65-F5344CB8AC3E}">
        <p14:creationId xmlns:p14="http://schemas.microsoft.com/office/powerpoint/2010/main" val="571766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Bao, W. (2020).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COVID-19 and online teaching in higher education: A case study of Peking University.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Human </a:t>
            </a:r>
            <a:r>
              <a:rPr lang="en-IN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Behavior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Emerging Technologies, 2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(2), 113-115.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Hodges, C., Moore, S., Lockee, B., Trust, T., &amp; Bond, A. (2020).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difference between emergency remote teaching and online learning.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Educause Review, 27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1-12.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Kumar, P., Kumar, A.,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Palvia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S., &amp; Verma, S. (2019).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Online business education research: Systematic analysis and a conceptual model.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International Journal of Management Education, 17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(1), 26-35.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Zhao, Y., &amp;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Watterston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 (2021).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The changes we need: Education post COVID-19. 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 of Educational Change, 22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(1), 3-12.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4156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992</Words>
  <Application>Microsoft Office PowerPoint</Application>
  <PresentationFormat>On-screen Show (4:3)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Times New Roman</vt:lpstr>
      <vt:lpstr>ui-sans-serif</vt:lpstr>
      <vt:lpstr>Wingdings</vt:lpstr>
      <vt:lpstr>Retrospect</vt:lpstr>
      <vt:lpstr>Department of Artificial Intelligence and Data Science CSA4001 –Management Information Systems for Data Optimization</vt:lpstr>
      <vt:lpstr>Abstract</vt:lpstr>
      <vt:lpstr>Table of Contents</vt:lpstr>
      <vt:lpstr>Introduction</vt:lpstr>
      <vt:lpstr>Problem Identification and Analysis</vt:lpstr>
      <vt:lpstr>Solution Design and Implementation</vt:lpstr>
      <vt:lpstr>Results and Recommendations</vt:lpstr>
      <vt:lpstr>Coding</vt:lpstr>
      <vt:lpstr>Coding</vt:lpstr>
      <vt:lpstr>Output Screenshots</vt:lpstr>
      <vt:lpstr>Output Screenshots</vt:lpstr>
      <vt:lpstr>Output Screenshots</vt:lpstr>
      <vt:lpstr>Reflection on Learning and Personal Development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CSA4001 – Management Information Systems Management Information Systems For Data Optimization</dc:title>
  <dc:creator>admin</dc:creator>
  <cp:lastModifiedBy>swathi shankar</cp:lastModifiedBy>
  <cp:revision>5</cp:revision>
  <dcterms:created xsi:type="dcterms:W3CDTF">2025-03-17T05:48:06Z</dcterms:created>
  <dcterms:modified xsi:type="dcterms:W3CDTF">2025-03-20T05:32:13Z</dcterms:modified>
</cp:coreProperties>
</file>